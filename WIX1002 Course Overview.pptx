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Tahoma" panose="020B060403050404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bqw17BGhSSGg0QUrGdl4z4Sav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SzPts val="224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 rot="5400000">
            <a:off x="4653757" y="2097882"/>
            <a:ext cx="600868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 rot="5400000">
            <a:off x="462756" y="116681"/>
            <a:ext cx="6008687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 rot="5400000">
            <a:off x="2366169" y="-189707"/>
            <a:ext cx="44116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1"/>
          </p:nvPr>
        </p:nvSpPr>
        <p:spPr>
          <a:xfrm>
            <a:off x="457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2"/>
          </p:nvPr>
        </p:nvSpPr>
        <p:spPr>
          <a:xfrm>
            <a:off x="4648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2"/>
          <p:cNvCxnSpPr/>
          <p:nvPr/>
        </p:nvCxnSpPr>
        <p:spPr>
          <a:xfrm>
            <a:off x="7315200" y="1066800"/>
            <a:ext cx="0" cy="449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1" name="Google Shape;11;p12"/>
          <p:cNvGrpSpPr/>
          <p:nvPr/>
        </p:nvGrpSpPr>
        <p:grpSpPr>
          <a:xfrm>
            <a:off x="7493000" y="2992437"/>
            <a:ext cx="1338262" cy="2189162"/>
            <a:chOff x="4704" y="1885"/>
            <a:chExt cx="843" cy="1379"/>
          </a:xfrm>
        </p:grpSpPr>
        <p:sp>
          <p:nvSpPr>
            <p:cNvPr id="12" name="Google Shape;12;p12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2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2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2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2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2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2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2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2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2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2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2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2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2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2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2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2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Google Shape;43;p12"/>
          <p:cNvCxnSpPr/>
          <p:nvPr/>
        </p:nvCxnSpPr>
        <p:spPr>
          <a:xfrm>
            <a:off x="304800" y="28194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7962900" y="152400"/>
            <a:ext cx="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8153400" y="152400"/>
            <a:ext cx="792162" cy="1295400"/>
            <a:chOff x="5136" y="960"/>
            <a:chExt cx="528" cy="864"/>
          </a:xfrm>
        </p:grpSpPr>
        <p:sp>
          <p:nvSpPr>
            <p:cNvPr id="63" name="Google Shape;63;p14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5360" y="960"/>
              <a:ext cx="76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360" y="1072"/>
              <a:ext cx="76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36" y="1184"/>
              <a:ext cx="80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5248" y="1184"/>
              <a:ext cx="79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etbeans.apache.org/kb/docs/jav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pectrum.um.edu.my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tbeans.apache.org/download/nb125/nb125.html" TargetMode="External"/><Relationship Id="rId4" Type="http://schemas.openxmlformats.org/officeDocument/2006/relationships/hyperlink" Target="https://www.oracle.com/java/technologies/javase-download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>
            <a:spLocks noGrp="1"/>
          </p:cNvSpPr>
          <p:nvPr>
            <p:ph type="ctrTitle"/>
          </p:nvPr>
        </p:nvSpPr>
        <p:spPr>
          <a:xfrm>
            <a:off x="315912" y="381000"/>
            <a:ext cx="7227887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b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WIX1002</a:t>
            </a:r>
            <a:b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Fundamentals of Programming</a:t>
            </a:r>
            <a:endParaRPr/>
          </a:p>
        </p:txBody>
      </p:sp>
      <p:sp>
        <p:nvSpPr>
          <p:cNvPr id="162" name="Google Shape;162;p1"/>
          <p:cNvSpPr txBox="1">
            <a:spLocks noGrp="1"/>
          </p:cNvSpPr>
          <p:nvPr>
            <p:ph type="subTitle" idx="1"/>
          </p:nvPr>
        </p:nvSpPr>
        <p:spPr>
          <a:xfrm>
            <a:off x="381000" y="2895600"/>
            <a:ext cx="7086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Prof. Dr. Por Lip Yee (PLY)</a:t>
            </a: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Assoc. Prof. Dr. Mohamad Nizam Ayub (MNA)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Dr. </a:t>
            </a:r>
            <a:r>
              <a:rPr lang="en-US" sz="2000" b="1" dirty="0" err="1"/>
              <a:t>Adeleh</a:t>
            </a:r>
            <a:r>
              <a:rPr lang="en-US" sz="2000" b="1" dirty="0"/>
              <a:t> </a:t>
            </a:r>
            <a:r>
              <a:rPr lang="en-US" sz="2000" b="1" dirty="0" err="1"/>
              <a:t>Asemi</a:t>
            </a:r>
            <a:r>
              <a:rPr lang="en-US" sz="2000" b="1" dirty="0"/>
              <a:t> (AD)</a:t>
            </a:r>
            <a:endParaRPr sz="2000"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Dr. Burhan </a:t>
            </a:r>
            <a:r>
              <a:rPr lang="en-US" sz="2000" b="1" dirty="0" err="1"/>
              <a:t>Ul</a:t>
            </a:r>
            <a:r>
              <a:rPr lang="en-US" sz="2000" b="1" dirty="0"/>
              <a:t> Islam Khan (BIK)</a:t>
            </a:r>
            <a:endParaRPr sz="2000" b="1" dirty="0"/>
          </a:p>
          <a:p>
            <a:pPr marL="0" indent="0" algn="l">
              <a:spcBef>
                <a:spcPts val="480"/>
              </a:spcBef>
              <a:buSzPts val="1680"/>
            </a:pPr>
            <a:r>
              <a:rPr lang="en-US" sz="2000" b="1" dirty="0"/>
              <a:t>Dr. Hazim Hanif (HZM)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Dr. Liew Wei </a:t>
            </a:r>
            <a:r>
              <a:rPr lang="en-US" sz="2000" b="1" dirty="0" err="1"/>
              <a:t>Shiung</a:t>
            </a:r>
            <a:r>
              <a:rPr lang="en-US" sz="2000" b="1" dirty="0"/>
              <a:t> (LWS)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Dr. </a:t>
            </a:r>
            <a:r>
              <a:rPr lang="en-US" sz="2000" b="1" dirty="0" err="1"/>
              <a:t>Rasha</a:t>
            </a:r>
            <a:r>
              <a:rPr lang="en-US" sz="2000" b="1" dirty="0"/>
              <a:t> </a:t>
            </a:r>
            <a:r>
              <a:rPr lang="en-US" sz="2000" b="1" dirty="0" err="1"/>
              <a:t>Ragheb</a:t>
            </a:r>
            <a:r>
              <a:rPr lang="en-US" sz="2000" b="1" dirty="0"/>
              <a:t> (RRA) </a:t>
            </a:r>
            <a:endParaRPr sz="2000" b="1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</a:pPr>
            <a:r>
              <a:rPr lang="en-US" sz="2000" b="1" dirty="0"/>
              <a:t>Dr. Saw Shier Nee (SSN)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</a:pPr>
            <a:r>
              <a:rPr lang="en-US" sz="2000" b="1" dirty="0"/>
              <a:t>Dr. Uzair Iqbal (UII)</a:t>
            </a:r>
            <a:endParaRPr sz="2000"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 sz="2000" b="1" dirty="0"/>
              <a:t>Dr. Unaizah Obaidellah (UO) - Coordinator</a:t>
            </a: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endParaRPr lang="en-US"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/>
          </a:p>
        </p:txBody>
      </p:sp>
      <p:sp>
        <p:nvSpPr>
          <p:cNvPr id="168" name="Google Shape;168;p2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end of the course, the student is able to:</a:t>
            </a:r>
            <a:endParaRPr/>
          </a:p>
          <a:p>
            <a:pPr marL="692150" lvl="1" indent="-34766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the steps of problem solving in programming.</a:t>
            </a:r>
            <a:endParaRPr/>
          </a:p>
          <a:p>
            <a:pPr marL="692150" lvl="1" indent="-34766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Rewrite programs that contain errors.</a:t>
            </a:r>
            <a:endParaRPr/>
          </a:p>
          <a:p>
            <a:pPr marL="692150" lvl="1" indent="-34766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programs based on principles of object-oriented.</a:t>
            </a:r>
            <a:endParaRPr/>
          </a:p>
          <a:p>
            <a:pPr marL="342900" lvl="0" indent="-21844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Syllabus</a:t>
            </a:r>
            <a:endParaRPr/>
          </a:p>
        </p:txBody>
      </p:sp>
      <p:sp>
        <p:nvSpPr>
          <p:cNvPr id="174" name="Google Shape;17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1 - Problem Solving in Programming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2 - Java Fundamental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3 - Flow of Control (Selection)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4 - Flow of Control (Repetition I)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5 - Flow of Control (Repetition II)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6 - Array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7 - Java Methods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Syllabus</a:t>
            </a:r>
            <a:endParaRPr/>
          </a:p>
        </p:txBody>
      </p:sp>
      <p:sp>
        <p:nvSpPr>
          <p:cNvPr id="180" name="Google Shape;18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8 - Revision + Mid Semester Test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9 - File Input and Output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10 - Class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11 - Inheritance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12 - Polymorphism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13 - Exception Handling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14 - Revision</a:t>
            </a:r>
            <a:endParaRPr/>
          </a:p>
          <a:p>
            <a:pPr marL="342900" lvl="0" indent="-21844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86" name="Google Shape;186;p5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Y. Daniel Liang, 2020, Introduction to Java Programming and Data Structures, Comprehensive Version, 12th Edition, Pearson. ISBN-10: 0136520235. 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Herbert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Schildt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2018, Java: A Beginner's Guide, 8</a:t>
            </a:r>
            <a:r>
              <a:rPr lang="en-US" sz="2400" b="0" i="0" u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Edition, McGraw-Hill Education, ISBN-10: 1260440214.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Joshua Bloch, 2017, Effective Java, 3rd Edition, Addison-Wesley Professional. ISBN-10: 0134685997.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 Tutorial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</a:pPr>
            <a:r>
              <a:rPr lang="en-US" sz="2000" b="0" i="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http://docs.oracle.com/javase/tutorial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Apache NetBeans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</a:pPr>
            <a:r>
              <a:rPr lang="en-US" sz="2000" b="0" i="0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http://netbeans.apache.org/kb/docs/java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92" name="Google Shape;192;p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eLearning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http://spectrum.um.edu.my/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SE Development Kit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0" i="0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https://www.oracle.com/java/technologies/javase-downloads.html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JDK download - Select the installer based on your OS type (windows,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macos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Apache NetBeans 12.5</a:t>
            </a:r>
            <a:endParaRPr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>
                <a:hlinkClick r:id="rId5"/>
              </a:rPr>
              <a:t>https://netbeans.apache.org/download/nb125/nb125.html</a:t>
            </a:r>
            <a:endParaRPr lang="en-US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en-MY" altLang="en-US" sz="2400" dirty="0"/>
              <a:t>Select the installer based on your OS type (windows, </a:t>
            </a:r>
            <a:r>
              <a:rPr lang="en-MY" altLang="en-US" sz="2400" dirty="0" err="1"/>
              <a:t>linux</a:t>
            </a:r>
            <a:r>
              <a:rPr lang="en-MY" altLang="en-US" sz="2400" dirty="0"/>
              <a:t>, </a:t>
            </a:r>
            <a:r>
              <a:rPr lang="en-MY" altLang="en-US" sz="2400" dirty="0" err="1"/>
              <a:t>macos</a:t>
            </a:r>
            <a:r>
              <a:rPr lang="en-MY" altLang="en-US" sz="2400" dirty="0"/>
              <a:t>). 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 JDK first before Apache NetBeans </a:t>
            </a:r>
            <a:endParaRPr dirty="0"/>
          </a:p>
          <a:p>
            <a:pPr marL="692150" lvl="1" indent="-2409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36220" algn="l" rtl="0">
              <a:spcBef>
                <a:spcPts val="480"/>
              </a:spcBef>
              <a:spcAft>
                <a:spcPts val="0"/>
              </a:spcAft>
              <a:buSzPts val="1680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 Table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467E-EA6D-38E2-2BB0-089BD6666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223B9-828E-A361-9BB1-7A205BC55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3" y="1597806"/>
            <a:ext cx="8891220" cy="43303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Assessments</a:t>
            </a:r>
            <a:endParaRPr/>
          </a:p>
        </p:txBody>
      </p:sp>
      <p:sp>
        <p:nvSpPr>
          <p:cNvPr id="210" name="Google Shape;210;p8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Assessment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 Semester Test	 20%</a:t>
            </a:r>
            <a:endParaRPr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1" dirty="0"/>
              <a:t>03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December 2024 (</a:t>
            </a:r>
            <a:r>
              <a:rPr lang="en-US" sz="2400" b="1" dirty="0"/>
              <a:t>Tuesday during Lecture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(3x)	 (Group) </a:t>
            </a:r>
            <a:r>
              <a:rPr lang="en-US" sz="2400" dirty="0"/>
              <a:t>	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Submission Due 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6</a:t>
            </a:r>
            <a:r>
              <a:rPr lang="en-US" sz="2400" b="1" dirty="0"/>
              <a:t>,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9</a:t>
            </a:r>
            <a:r>
              <a:rPr lang="en-US" sz="2400" b="1" dirty="0"/>
              <a:t>,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11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(Group)	15%</a:t>
            </a:r>
            <a:endParaRPr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Submission Due (Week 13 – Fri, 10/01/2024</a:t>
            </a:r>
            <a:r>
              <a:rPr lang="en-US" sz="2400" dirty="0"/>
              <a:t>, 2359</a:t>
            </a:r>
            <a:r>
              <a:rPr lang="en-US" sz="240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Presentation (Week 14)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Assessments</a:t>
            </a:r>
            <a:endParaRPr/>
          </a:p>
        </p:txBody>
      </p:sp>
      <p:sp>
        <p:nvSpPr>
          <p:cNvPr id="216" name="Google Shape;216;p9"/>
          <p:cNvSpPr txBox="1">
            <a:spLocks noGrp="1"/>
          </p:cNvSpPr>
          <p:nvPr>
            <p:ph type="body" idx="1"/>
          </p:nvPr>
        </p:nvSpPr>
        <p:spPr>
          <a:xfrm>
            <a:off x="457200" y="1760537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SG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Exam (50%)</a:t>
            </a:r>
            <a:endParaRPr dirty="0"/>
          </a:p>
          <a:p>
            <a:pPr lvl="1" eaLnBrk="1" hangingPunct="1"/>
            <a:r>
              <a:rPr lang="en-US" altLang="en-US" sz="2400" dirty="0"/>
              <a:t>Lab Test</a:t>
            </a:r>
          </a:p>
          <a:p>
            <a:pPr lvl="1" eaLnBrk="1" hangingPunct="1"/>
            <a:r>
              <a:rPr lang="en-US" altLang="en-US" sz="2400" dirty="0"/>
              <a:t>Date: </a:t>
            </a:r>
            <a:r>
              <a:rPr lang="en-US" altLang="en-US" sz="2400" i="1" dirty="0"/>
              <a:t>TBA</a:t>
            </a:r>
          </a:p>
          <a:p>
            <a:pPr lvl="1" eaLnBrk="1" hangingPunct="1"/>
            <a:r>
              <a:rPr lang="en-US" altLang="en-US" sz="2400" dirty="0"/>
              <a:t>Venue: TBA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Tips</a:t>
            </a:r>
            <a:endParaRPr/>
          </a:p>
        </p:txBody>
      </p:sp>
      <p:sp>
        <p:nvSpPr>
          <p:cNvPr id="222" name="Google Shape;222;p1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concepts well.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 to programming examples.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more practice</a:t>
            </a:r>
            <a:endParaRPr/>
          </a:p>
          <a:p>
            <a:pPr marL="692150" lvl="1" indent="-347661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a programming book.</a:t>
            </a:r>
            <a:endParaRPr/>
          </a:p>
          <a:p>
            <a:pPr marL="692150" lvl="1" indent="-347661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all the tutorials and lab exercises by yourself.</a:t>
            </a:r>
            <a:endParaRPr/>
          </a:p>
          <a:p>
            <a:pPr marL="692150" lvl="1" indent="-2409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36220" algn="l" rtl="0">
              <a:spcBef>
                <a:spcPts val="480"/>
              </a:spcBef>
              <a:spcAft>
                <a:spcPts val="0"/>
              </a:spcAft>
              <a:buSzPts val="168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 descr="java_logo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2325" y="1905000"/>
            <a:ext cx="49593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518</Words>
  <Application>Microsoft Office PowerPoint</Application>
  <PresentationFormat>On-screen Show (4:3)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Tahoma</vt:lpstr>
      <vt:lpstr>Noto Sans Symbols</vt:lpstr>
      <vt:lpstr>1_Network</vt:lpstr>
      <vt:lpstr>Network</vt:lpstr>
      <vt:lpstr>  WIX1002 Fundamentals of Programming</vt:lpstr>
      <vt:lpstr>Learning Outcomes</vt:lpstr>
      <vt:lpstr>Syllabus</vt:lpstr>
      <vt:lpstr>Syllabus</vt:lpstr>
      <vt:lpstr>References</vt:lpstr>
      <vt:lpstr>References</vt:lpstr>
      <vt:lpstr>Time Table</vt:lpstr>
      <vt:lpstr>Assessments</vt:lpstr>
      <vt:lpstr>Assessments</vt:lpstr>
      <vt:lpstr>Tips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WIX1002 Fundamentals of Programming</dc:title>
  <dc:creator>UM</dc:creator>
  <cp:lastModifiedBy>UNAIZAH HANUM BINTI OBAIDELLAH</cp:lastModifiedBy>
  <cp:revision>12</cp:revision>
  <dcterms:created xsi:type="dcterms:W3CDTF">2001-09-03T08:02:12Z</dcterms:created>
  <dcterms:modified xsi:type="dcterms:W3CDTF">2024-10-07T04:29:28Z</dcterms:modified>
</cp:coreProperties>
</file>